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19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68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oundRect">
            <a:avLst>
              <a:gd name="adj" fmla="val 858"/>
            </a:avLst>
          </a:prstGeom>
          <a:gradFill rotWithShape="1">
            <a:gsLst>
              <a:gs pos="0">
                <a:srgbClr val="EDF4FC">
                  <a:alpha val="100000"/>
                </a:srgbClr>
              </a:gs>
              <a:gs pos="100000">
                <a:srgbClr val="DCE9F7">
                  <a:alpha val="100000"/>
                </a:srgbClr>
              </a:gs>
            </a:gsLst>
            <a:lin ang="3900000" scaled="0"/>
          </a:gradFill>
          <a:ln/>
          <a:effectLst>
            <a:outerShdw blurRad="95250" dist="1905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772400" cy="1792883"/>
          </a:xfrm>
          <a:prstGeom prst="rect">
            <a:avLst/>
          </a:prstGeom>
          <a:gradFill rotWithShape="1">
            <a:gsLst>
              <a:gs pos="0">
                <a:srgbClr val="0A1A41">
                  <a:alpha val="100000"/>
                </a:srgbClr>
              </a:gs>
              <a:gs pos="100000">
                <a:srgbClr val="061029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762000" y="-1524000"/>
            <a:ext cx="4381500" cy="3238500"/>
          </a:xfrm>
          <a:prstGeom prst="rect">
            <a:avLst/>
          </a:prstGeom>
          <a:gradFill rotWithShape="1">
            <a:gsLst>
              <a:gs pos="0">
                <a:srgbClr val="3F76F6">
                  <a:alpha val="55000"/>
                </a:srgbClr>
              </a:gs>
              <a:gs pos="100000">
                <a:srgbClr val="3F76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247650"/>
            <a:ext cx="268863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15950" y="358775"/>
            <a:ext cx="57150" cy="57150"/>
          </a:xfrm>
          <a:prstGeom prst="ellipse">
            <a:avLst/>
          </a:prstGeom>
          <a:solidFill>
            <a:srgbClr val="6FE9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350" y="320675"/>
            <a:ext cx="24406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FFFFFF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BOOTCAMP QI TECH 2026 · DIA 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57200" y="650875"/>
            <a:ext cx="285635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2250" kern="0" spc="-45" dirty="0">
                <a:solidFill>
                  <a:srgbClr val="FFFFFF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Contratos, banco de dados e </a:t>
            </a:r>
            <a:r>
              <a:rPr lang="en-US" sz="2250" b="1" kern="0" spc="-45" dirty="0">
                <a:solidFill>
                  <a:srgbClr val="FFFFFF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fluxos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7200" y="1403350"/>
            <a:ext cx="3940086" cy="2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00"/>
              </a:lnSpc>
              <a:buNone/>
            </a:pPr>
            <a:r>
              <a:rPr lang="en-US" sz="1013" dirty="0">
                <a:solidFill>
                  <a:srgbClr val="FFFFFF">
                    <a:alpha val="72000"/>
                  </a:srgbClr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Guia rápido para acompanhar a aula de quem não vem de tech.</a:t>
            </a:r>
            <a:endParaRPr lang="en-US" sz="1013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266700"/>
            <a:ext cx="1428750" cy="80297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1964333"/>
            <a:ext cx="1484094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3F76F6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CONCEITOS-CHAVE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1939727" y="2026245"/>
            <a:ext cx="5375474" cy="9525"/>
          </a:xfrm>
          <a:prstGeom prst="rect">
            <a:avLst/>
          </a:prstGeom>
          <a:gradFill rotWithShape="1">
            <a:gsLst>
              <a:gs pos="0">
                <a:srgbClr val="3F76F6">
                  <a:alpha val="45000"/>
                </a:srgbClr>
              </a:gs>
              <a:gs pos="100000">
                <a:srgbClr val="3F76F6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57200" y="2202458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2269133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Connector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57200" y="2446933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 camada que fala com serviços de fora, como um bureau ou parceiro. Guarda endereço, tempo de espera e como entender a resposta.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4038600" y="2202458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038600" y="2269133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RFC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4038600" y="2446933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Documento que explica uma decisão técnica e o raciocínio por trás dela, antes do código existir.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457200" y="2915642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57200" y="2982317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Cliente e servidor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457200" y="3160117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Papéis numa conversa: quem pede é cliente, quem responde é servidor. A mesma API pode ser as duas coisas.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4038600" y="2915642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038600" y="2982317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HTTP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4038600" y="3160117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 idioma combinado para cliente e servidor conversarem pela internet: verbo, endereço, cabeçalhos e corpo.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457200" y="3628827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57200" y="3695502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Métodos (GET, POST...)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457200" y="3873302"/>
            <a:ext cx="3604260" cy="180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 intenção do pedido. GET lê, POST cria, PUT atualiza, DELETE apaga.</a:t>
            </a:r>
            <a:endParaRPr lang="en-US" sz="825" dirty="0"/>
          </a:p>
        </p:txBody>
      </p:sp>
      <p:sp>
        <p:nvSpPr>
          <p:cNvPr id="29" name="Shape 26"/>
          <p:cNvSpPr/>
          <p:nvPr/>
        </p:nvSpPr>
        <p:spPr>
          <a:xfrm>
            <a:off x="4038600" y="3628827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4038600" y="3695502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Status code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4038600" y="3873302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 resumo de três dígitos de como foi o pedido. 2xx deu certo, 4xx erro de quem pediu, 5xx erro de quem respondeu.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457200" y="4342011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57200" y="4408686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REST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457200" y="4586486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Regra para nomear endereços como coisas, substantivos. O que fazer vem do método, nunca do endereço.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4038600" y="4342011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4038600" y="4408686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Id e key (UUID)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4038600" y="4586486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 id é interno e sequencial, vive só no banco. A key (UUID) é o que aparece pra fora, imprevisível.</a:t>
            </a:r>
            <a:endParaRPr lang="en-US" sz="825" dirty="0"/>
          </a:p>
        </p:txBody>
      </p:sp>
      <p:sp>
        <p:nvSpPr>
          <p:cNvPr id="38" name="Shape 35"/>
          <p:cNvSpPr/>
          <p:nvPr/>
        </p:nvSpPr>
        <p:spPr>
          <a:xfrm>
            <a:off x="457200" y="5055196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457200" y="5121871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Banco relacional</a:t>
            </a:r>
            <a:endParaRPr lang="en-US" sz="1013" dirty="0"/>
          </a:p>
        </p:txBody>
      </p:sp>
      <p:sp>
        <p:nvSpPr>
          <p:cNvPr id="40" name="Text 37"/>
          <p:cNvSpPr/>
          <p:nvPr/>
        </p:nvSpPr>
        <p:spPr>
          <a:xfrm>
            <a:off x="457200" y="5299670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Tabelas com colunas de tipo fixo, em que uma linha aponta para outra por uma chave.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4038600" y="5055196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4038600" y="5121871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ACID</a:t>
            </a:r>
            <a:endParaRPr lang="en-US" sz="1013" dirty="0"/>
          </a:p>
        </p:txBody>
      </p:sp>
      <p:sp>
        <p:nvSpPr>
          <p:cNvPr id="43" name="Text 40"/>
          <p:cNvSpPr/>
          <p:nvPr/>
        </p:nvSpPr>
        <p:spPr>
          <a:xfrm>
            <a:off x="4038600" y="5299670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As quatro garantias de uma transação: tudo ou nada, sempre consistente, isolada das outras, e permanente.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457200" y="5768479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457200" y="5835154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Chave estrangeira</a:t>
            </a:r>
            <a:endParaRPr lang="en-US" sz="1013" dirty="0"/>
          </a:p>
        </p:txBody>
      </p:sp>
      <p:sp>
        <p:nvSpPr>
          <p:cNvPr id="46" name="Text 43"/>
          <p:cNvSpPr/>
          <p:nvPr/>
        </p:nvSpPr>
        <p:spPr>
          <a:xfrm>
            <a:off x="457200" y="6012954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Como uma linha de uma tabela aponta para outra, seja um para muitos ou muitos para muitos.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4038600" y="5768479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4038600" y="5835154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Fluxo</a:t>
            </a:r>
            <a:endParaRPr lang="en-US" sz="1013" dirty="0"/>
          </a:p>
        </p:txBody>
      </p:sp>
      <p:sp>
        <p:nvSpPr>
          <p:cNvPr id="49" name="Text 46"/>
          <p:cNvSpPr/>
          <p:nvPr/>
        </p:nvSpPr>
        <p:spPr>
          <a:xfrm>
            <a:off x="4038600" y="6012954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 sequência de passos entre receber o pedido e responder. Mora no controller.</a:t>
            </a:r>
            <a:endParaRPr lang="en-US" sz="825" dirty="0"/>
          </a:p>
        </p:txBody>
      </p:sp>
      <p:sp>
        <p:nvSpPr>
          <p:cNvPr id="50" name="Shape 47"/>
          <p:cNvSpPr/>
          <p:nvPr/>
        </p:nvSpPr>
        <p:spPr>
          <a:xfrm>
            <a:off x="457200" y="6481664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457200" y="6548339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Endpoint</a:t>
            </a:r>
            <a:endParaRPr lang="en-US" sz="1013" dirty="0"/>
          </a:p>
        </p:txBody>
      </p:sp>
      <p:sp>
        <p:nvSpPr>
          <p:cNvPr id="52" name="Text 49"/>
          <p:cNvSpPr/>
          <p:nvPr/>
        </p:nvSpPr>
        <p:spPr>
          <a:xfrm>
            <a:off x="457200" y="6726138"/>
            <a:ext cx="3604260" cy="180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 endereço que a API expõe. Nomeia uma coisa, nunca uma ação.</a:t>
            </a:r>
            <a:endParaRPr lang="en-US" sz="825" dirty="0"/>
          </a:p>
        </p:txBody>
      </p:sp>
      <p:sp>
        <p:nvSpPr>
          <p:cNvPr id="53" name="Shape 50"/>
          <p:cNvSpPr/>
          <p:nvPr/>
        </p:nvSpPr>
        <p:spPr>
          <a:xfrm>
            <a:off x="4038600" y="6481664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1"/>
          <p:cNvSpPr/>
          <p:nvPr/>
        </p:nvSpPr>
        <p:spPr>
          <a:xfrm>
            <a:off x="4038600" y="6548339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Schema</a:t>
            </a:r>
            <a:endParaRPr lang="en-US" sz="1013" dirty="0"/>
          </a:p>
        </p:txBody>
      </p:sp>
      <p:sp>
        <p:nvSpPr>
          <p:cNvPr id="55" name="Text 52"/>
          <p:cNvSpPr/>
          <p:nvPr/>
        </p:nvSpPr>
        <p:spPr>
          <a:xfrm>
            <a:off x="4038600" y="6726138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Confere se o que chegou tem o formato certo, antes de qualquer regra rodar.</a:t>
            </a:r>
            <a:endParaRPr lang="en-US" sz="825" dirty="0"/>
          </a:p>
        </p:txBody>
      </p:sp>
      <p:sp>
        <p:nvSpPr>
          <p:cNvPr id="56" name="Shape 53"/>
          <p:cNvSpPr/>
          <p:nvPr/>
        </p:nvSpPr>
        <p:spPr>
          <a:xfrm>
            <a:off x="457200" y="7194848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4"/>
          <p:cNvSpPr/>
          <p:nvPr/>
        </p:nvSpPr>
        <p:spPr>
          <a:xfrm>
            <a:off x="457200" y="7261523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Controller</a:t>
            </a:r>
            <a:endParaRPr lang="en-US" sz="1013" dirty="0"/>
          </a:p>
        </p:txBody>
      </p:sp>
      <p:sp>
        <p:nvSpPr>
          <p:cNvPr id="58" name="Text 55"/>
          <p:cNvSpPr/>
          <p:nvPr/>
        </p:nvSpPr>
        <p:spPr>
          <a:xfrm>
            <a:off x="457200" y="7439323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Onde mora a regra de negócio: o que pode e o que não pode acontecer.</a:t>
            </a:r>
            <a:endParaRPr lang="en-US" sz="825" dirty="0"/>
          </a:p>
        </p:txBody>
      </p:sp>
      <p:sp>
        <p:nvSpPr>
          <p:cNvPr id="59" name="Shape 56"/>
          <p:cNvSpPr/>
          <p:nvPr/>
        </p:nvSpPr>
        <p:spPr>
          <a:xfrm>
            <a:off x="4038600" y="7194848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7"/>
          <p:cNvSpPr/>
          <p:nvPr/>
        </p:nvSpPr>
        <p:spPr>
          <a:xfrm>
            <a:off x="4038600" y="7261523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Repository</a:t>
            </a:r>
            <a:endParaRPr lang="en-US" sz="1013" dirty="0"/>
          </a:p>
        </p:txBody>
      </p:sp>
      <p:sp>
        <p:nvSpPr>
          <p:cNvPr id="61" name="Text 58"/>
          <p:cNvSpPr/>
          <p:nvPr/>
        </p:nvSpPr>
        <p:spPr>
          <a:xfrm>
            <a:off x="4038600" y="7439323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 única camada que conversa com o banco. Não decide nada, só busca e guarda.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457200" y="7908032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0"/>
          <p:cNvSpPr/>
          <p:nvPr/>
        </p:nvSpPr>
        <p:spPr>
          <a:xfrm>
            <a:off x="457200" y="7974707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Enumerador (status)</a:t>
            </a:r>
            <a:endParaRPr lang="en-US" sz="1013" dirty="0"/>
          </a:p>
        </p:txBody>
      </p:sp>
      <p:sp>
        <p:nvSpPr>
          <p:cNvPr id="64" name="Text 61"/>
          <p:cNvSpPr/>
          <p:nvPr/>
        </p:nvSpPr>
        <p:spPr>
          <a:xfrm>
            <a:off x="457200" y="8152507"/>
            <a:ext cx="3604260" cy="180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A lista fixa de estados que uma entidade pode ter, guardada no banco.</a:t>
            </a:r>
            <a:endParaRPr lang="en-US" sz="825" dirty="0"/>
          </a:p>
        </p:txBody>
      </p:sp>
      <p:sp>
        <p:nvSpPr>
          <p:cNvPr id="65" name="Shape 62"/>
          <p:cNvSpPr/>
          <p:nvPr/>
        </p:nvSpPr>
        <p:spPr>
          <a:xfrm>
            <a:off x="4038600" y="7908032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3"/>
          <p:cNvSpPr/>
          <p:nvPr/>
        </p:nvSpPr>
        <p:spPr>
          <a:xfrm>
            <a:off x="4038600" y="7974707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Tabela de eventos</a:t>
            </a:r>
            <a:endParaRPr lang="en-US" sz="1013" dirty="0"/>
          </a:p>
        </p:txBody>
      </p:sp>
      <p:sp>
        <p:nvSpPr>
          <p:cNvPr id="67" name="Text 64"/>
          <p:cNvSpPr/>
          <p:nvPr/>
        </p:nvSpPr>
        <p:spPr>
          <a:xfrm>
            <a:off x="4038600" y="8152507"/>
            <a:ext cx="3374898" cy="323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Uma linha por mudança de estado, para saber desde quando e por quê.</a:t>
            </a:r>
            <a:endParaRPr lang="en-US" sz="825" dirty="0"/>
          </a:p>
        </p:txBody>
      </p:sp>
      <p:sp>
        <p:nvSpPr>
          <p:cNvPr id="68" name="Shape 65"/>
          <p:cNvSpPr/>
          <p:nvPr/>
        </p:nvSpPr>
        <p:spPr>
          <a:xfrm>
            <a:off x="457200" y="8621217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6"/>
          <p:cNvSpPr/>
          <p:nvPr/>
        </p:nvSpPr>
        <p:spPr>
          <a:xfrm>
            <a:off x="457200" y="8687892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Query string</a:t>
            </a:r>
            <a:endParaRPr lang="en-US" sz="1013" dirty="0"/>
          </a:p>
        </p:txBody>
      </p:sp>
      <p:sp>
        <p:nvSpPr>
          <p:cNvPr id="70" name="Text 67"/>
          <p:cNvSpPr/>
          <p:nvPr/>
        </p:nvSpPr>
        <p:spPr>
          <a:xfrm>
            <a:off x="457200" y="8865691"/>
            <a:ext cx="3604260" cy="180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Filtros, ordenação e paginação vão aqui, nunca no caminho da rota.</a:t>
            </a:r>
            <a:endParaRPr lang="en-US" sz="825" dirty="0"/>
          </a:p>
        </p:txBody>
      </p:sp>
      <p:sp>
        <p:nvSpPr>
          <p:cNvPr id="71" name="Shape 68"/>
          <p:cNvSpPr/>
          <p:nvPr/>
        </p:nvSpPr>
        <p:spPr>
          <a:xfrm>
            <a:off x="4038600" y="8621217"/>
            <a:ext cx="3276600" cy="19050"/>
          </a:xfrm>
          <a:prstGeom prst="rect">
            <a:avLst/>
          </a:prstGeom>
          <a:solidFill>
            <a:srgbClr val="3F76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69"/>
          <p:cNvSpPr/>
          <p:nvPr/>
        </p:nvSpPr>
        <p:spPr>
          <a:xfrm>
            <a:off x="4038600" y="8687892"/>
            <a:ext cx="36042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-10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JSON</a:t>
            </a:r>
            <a:endParaRPr lang="en-US" sz="1013" dirty="0"/>
          </a:p>
        </p:txBody>
      </p:sp>
      <p:sp>
        <p:nvSpPr>
          <p:cNvPr id="73" name="Text 70"/>
          <p:cNvSpPr/>
          <p:nvPr/>
        </p:nvSpPr>
        <p:spPr>
          <a:xfrm>
            <a:off x="4038600" y="8865691"/>
            <a:ext cx="3604260" cy="180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57"/>
              </a:lnSpc>
              <a:buNone/>
            </a:pPr>
            <a:r>
              <a:rPr lang="en-US" sz="825" dirty="0">
                <a:solidFill>
                  <a:srgbClr val="1B2A4E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O formato em que o corpo da requisição e da resposta viaja.</a:t>
            </a:r>
            <a:endParaRPr lang="en-US" sz="825" dirty="0"/>
          </a:p>
        </p:txBody>
      </p:sp>
      <p:sp>
        <p:nvSpPr>
          <p:cNvPr id="74" name="Shape 71"/>
          <p:cNvSpPr/>
          <p:nvPr/>
        </p:nvSpPr>
        <p:spPr>
          <a:xfrm>
            <a:off x="457200" y="9277350"/>
            <a:ext cx="6858000" cy="9525"/>
          </a:xfrm>
          <a:prstGeom prst="rect">
            <a:avLst/>
          </a:prstGeom>
          <a:solidFill>
            <a:srgbClr val="0A1A41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2"/>
          <p:cNvSpPr/>
          <p:nvPr/>
        </p:nvSpPr>
        <p:spPr>
          <a:xfrm>
            <a:off x="457200" y="9540875"/>
            <a:ext cx="280862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165" dirty="0">
                <a:solidFill>
                  <a:srgbClr val="3F76F6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PROFESSORES DO DIA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57200" y="9709150"/>
            <a:ext cx="28086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0A1A41"/>
                </a:solidFill>
                <a:latin typeface="TT Hoves" pitchFamily="34" charset="0"/>
                <a:ea typeface="TT Hoves" pitchFamily="34" charset="-122"/>
                <a:cs typeface="TT Hoves" pitchFamily="34" charset="-120"/>
              </a:rPr>
              <a:t>Gilberto Oliveira · Gabriel Orsi · João Bebber</a:t>
            </a:r>
            <a:endParaRPr lang="en-US" sz="1013" dirty="0"/>
          </a:p>
        </p:txBody>
      </p:sp>
      <p:pic>
        <p:nvPicPr>
          <p:cNvPr id="77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7067550" y="9388475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Personalizar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TT Hoves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Sarah Carbaca Celin | QI Tech</cp:lastModifiedBy>
  <cp:revision>2</cp:revision>
  <dcterms:created xsi:type="dcterms:W3CDTF">2026-09-19T00:25:48Z</dcterms:created>
  <dcterms:modified xsi:type="dcterms:W3CDTF">2026-09-19T00:26:16Z</dcterms:modified>
</cp:coreProperties>
</file>